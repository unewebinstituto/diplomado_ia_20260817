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Source Sans 3"/>
      <p:regular r:id="rId201314"/>
    </p:embeddedFont>
    <p:embeddedFont>
      <p:font typeface="Source Sans 3 SemiBold"/>
      <p:regular r:id="rId201315"/>
    </p:embeddedFont>
    <p:embeddedFont>
      <p:font typeface="Source Sans 3 Bold"/>
      <p:regular r:id="rId201316"/>
    </p:embeddedFont>
    <p:embeddedFont>
      <p:font typeface="Source Sans 3 Black"/>
      <p:regular r:id="rId201317"/>
    </p:embeddedFont>
    <p:embeddedFont>
      <p:font typeface="Source Serif 4"/>
      <p:regular r:id="rId201318"/>
    </p:embeddedFont>
    <p:embeddedFont>
      <p:font typeface="Source Serif 4 SemiBold"/>
      <p:regular r:id="rId201319"/>
    </p:embeddedFont>
    <p:embeddedFont>
      <p:font typeface="Source Serif 4 Bold"/>
      <p:regular r:id="rId201320"/>
    </p:embeddedFont>
    <p:embeddedFont>
      <p:font typeface="Source Serif 4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4.png"/><Relationship Id="rId9" Type="http://schemas.openxmlformats.org/officeDocument/2006/relationships/image" Target="../media/image-2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image" Target="../media/image-4-5.jpeg"/><Relationship Id="rId6" Type="http://schemas.openxmlformats.org/officeDocument/2006/relationships/image" Target="../media/image-4-6.jpeg"/><Relationship Id="rId7" Type="http://schemas.openxmlformats.org/officeDocument/2006/relationships/image" Target="../media/image-4-7.jpeg"/><Relationship Id="rId8" Type="http://schemas.openxmlformats.org/officeDocument/2006/relationships/image" Target="../media/image-4-8.jpeg"/><Relationship Id="rId9" Type="http://schemas.openxmlformats.org/officeDocument/2006/relationships/image" Target="../media/image-4-9.jpe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109788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Conoce a tu nuevo aliado: el </a:t>
            </a:r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BE49D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Agente de IA de Beneficios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3582293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Guión de producción audiovisual para la campaña informativa dirigida a todos los colaboradores de la entidad financiera.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4445000"/>
            <a:ext cx="2541623" cy="303113"/>
          </a:xfrm>
          <a:prstGeom prst="roundRect">
            <a:avLst>
              <a:gd name="adj" fmla="val 22112"/>
            </a:avLst>
          </a:prstGeom>
          <a:solidFill>
            <a:srgbClr val="F0D4F7"/>
          </a:solidFill>
          <a:ln/>
        </p:spPr>
      </p:sp>
      <p:sp>
        <p:nvSpPr>
          <p:cNvPr id="6" name="Text 3"/>
          <p:cNvSpPr/>
          <p:nvPr/>
        </p:nvSpPr>
        <p:spPr>
          <a:xfrm>
            <a:off x="817740" y="4504829"/>
            <a:ext cx="291189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VIDEO CORPORATIVO · 3:30–4:00 MIN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339421" y="4445000"/>
            <a:ext cx="2517712" cy="303113"/>
          </a:xfrm>
          <a:prstGeom prst="roundRect">
            <a:avLst>
              <a:gd name="adj" fmla="val 22112"/>
            </a:avLst>
          </a:prstGeom>
          <a:noFill/>
          <a:ln w="6350">
            <a:solidFill>
              <a:srgbClr val="BE49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59076" y="4504829"/>
            <a:ext cx="288798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1" kern="0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ANIMACIÓN 2D + MOTION GRAPHICS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7913"/>
            <a:ext cx="10795524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spc="-53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Ficha Técnica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763514"/>
            <a:ext cx="6894638" cy="390703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8711" y="1299964"/>
            <a:ext cx="3551149" cy="10327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87326" y="1462385"/>
            <a:ext cx="3150117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Público objetivo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8187326" y="1776214"/>
            <a:ext cx="3150117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-23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Colaboradores de la entidad financiera (todos los niveles)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8711" y="2435721"/>
            <a:ext cx="3551149" cy="12298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87326" y="2598142"/>
            <a:ext cx="3150117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Formato y tono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8187326" y="2911971"/>
            <a:ext cx="3150117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-23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Video corporativo, animación 2D + motion graphics + locución en off. Tono cercano, claro y confiable, sin tecnicismos innecesarios.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48711" y="3768527"/>
            <a:ext cx="3551149" cy="10327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187326" y="3930948"/>
            <a:ext cx="3150117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Canales de difusión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8187326" y="4244777"/>
            <a:ext cx="3150117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-23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Intranet, correo corporativo, pantallas de sedes y app interna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48711" y="4904284"/>
            <a:ext cx="3551149" cy="122981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87326" y="5066705"/>
            <a:ext cx="3150117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-2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Objetivo comunicacional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8187326" y="5380534"/>
            <a:ext cx="3150117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spc="-23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Que el colaborador entienda qué es el agente, cómo usarlo, qué puede y no puede resolver, y cómo escalar a un humano si lo necesita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8694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spc="-74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Estructura Narrativa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3921820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D6BADD"/>
          </a:solidFill>
          <a:ln/>
        </p:spPr>
      </p:sp>
      <p:sp>
        <p:nvSpPr>
          <p:cNvPr id="4" name="Shape 2"/>
          <p:cNvSpPr/>
          <p:nvPr/>
        </p:nvSpPr>
        <p:spPr>
          <a:xfrm>
            <a:off x="2401431" y="3323481"/>
            <a:ext cx="25399" cy="598388"/>
          </a:xfrm>
          <a:prstGeom prst="roundRect">
            <a:avLst>
              <a:gd name="adj" fmla="val 50001"/>
            </a:avLst>
          </a:prstGeom>
          <a:solidFill>
            <a:srgbClr val="D6BADD"/>
          </a:solidFill>
          <a:ln/>
        </p:spPr>
      </p:sp>
      <p:sp>
        <p:nvSpPr>
          <p:cNvPr id="5" name="Shape 3"/>
          <p:cNvSpPr/>
          <p:nvPr/>
        </p:nvSpPr>
        <p:spPr>
          <a:xfrm>
            <a:off x="2189802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73342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97510" y="2072580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Gancho · 0:00–0:20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7510" y="2485529"/>
            <a:ext cx="30334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Problema cotidiano: esperas para consultar beneficios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242190" y="3921770"/>
            <a:ext cx="25399" cy="598388"/>
          </a:xfrm>
          <a:prstGeom prst="roundRect">
            <a:avLst>
              <a:gd name="adj" fmla="val 50001"/>
            </a:avLst>
          </a:prstGeom>
          <a:solidFill>
            <a:srgbClr val="D6BADD"/>
          </a:solidFill>
          <a:ln/>
        </p:spPr>
      </p:sp>
      <p:sp>
        <p:nvSpPr>
          <p:cNvPr id="10" name="Shape 8"/>
          <p:cNvSpPr/>
          <p:nvPr/>
        </p:nvSpPr>
        <p:spPr>
          <a:xfrm>
            <a:off x="4030562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102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38270" y="4719737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Solución · 0:20–0:45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38270" y="5132685"/>
            <a:ext cx="30334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Presentación del Agente de IA disponible 24/7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083049" y="3323481"/>
            <a:ext cx="25399" cy="598388"/>
          </a:xfrm>
          <a:prstGeom prst="roundRect">
            <a:avLst>
              <a:gd name="adj" fmla="val 50001"/>
            </a:avLst>
          </a:prstGeom>
          <a:solidFill>
            <a:srgbClr val="D6BADD"/>
          </a:solidFill>
          <a:ln/>
        </p:spPr>
      </p:sp>
      <p:sp>
        <p:nvSpPr>
          <p:cNvPr id="15" name="Shape 13"/>
          <p:cNvSpPr/>
          <p:nvPr/>
        </p:nvSpPr>
        <p:spPr>
          <a:xfrm>
            <a:off x="5871420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54960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9128" y="2072580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Recorrido · 0:45–2:45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9128" y="2485529"/>
            <a:ext cx="30334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Pasos del proceso de consulta y solicitud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23808" y="3921770"/>
            <a:ext cx="25399" cy="598388"/>
          </a:xfrm>
          <a:prstGeom prst="roundRect">
            <a:avLst>
              <a:gd name="adj" fmla="val 50001"/>
            </a:avLst>
          </a:prstGeom>
          <a:solidFill>
            <a:srgbClr val="D6BAD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12180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95720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19888" y="4719737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Confianza · 2:45–3:15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19888" y="5132685"/>
            <a:ext cx="30334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Transparencia y escalamiento humano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9764667" y="3323481"/>
            <a:ext cx="25399" cy="598388"/>
          </a:xfrm>
          <a:prstGeom prst="roundRect">
            <a:avLst>
              <a:gd name="adj" fmla="val 50001"/>
            </a:avLst>
          </a:prstGeom>
          <a:solidFill>
            <a:srgbClr val="D6BADD"/>
          </a:solidFill>
          <a:ln/>
        </p:spPr>
      </p:sp>
      <p:sp>
        <p:nvSpPr>
          <p:cNvPr id="25" name="Shape 23"/>
          <p:cNvSpPr/>
          <p:nvPr/>
        </p:nvSpPr>
        <p:spPr>
          <a:xfrm>
            <a:off x="9553038" y="3697436"/>
            <a:ext cx="448755" cy="448766"/>
          </a:xfrm>
          <a:prstGeom prst="roundRect">
            <a:avLst>
              <a:gd name="adj" fmla="val 18670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36578" y="3745756"/>
            <a:ext cx="281576" cy="352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4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60746" y="2072580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spc="-37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Cierre · 3:15–3:45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60746" y="2485529"/>
            <a:ext cx="303343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spc="-31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Llamado a la acción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52562"/>
            <a:ext cx="10795524" cy="375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spc="-4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Guion Escena por Escena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192113"/>
            <a:ext cx="1153687" cy="712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2007394"/>
            <a:ext cx="2622088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Escena 1 — El problema (0:00–0:20)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98086" y="2244328"/>
            <a:ext cx="2622088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Colaborador esperando respuesta de RRHH. Narración: «Antes, esperar una respuesta podía tomar días.»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465" y="1192113"/>
            <a:ext cx="1153687" cy="71298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2465" y="2007394"/>
            <a:ext cx="2622187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Escena 2 — La solución (0:20–0:45)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422465" y="2244328"/>
            <a:ext cx="2622187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Presentación del Agente de IA: asistente 24/7 desde intranet y app. Texto: «Disponible 24/7 · Acceso desde intranet y app»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944" y="1192113"/>
            <a:ext cx="1153687" cy="7129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46944" y="2007394"/>
            <a:ext cx="2622187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Escena 3 — Ingreso seguro (0:45–1:05)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6146944" y="2244328"/>
            <a:ext cx="2622187" cy="33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Acceso con usuario corporativo (SSO); el agente reconoce automáticamente el perfil laboral.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1423" y="1192113"/>
            <a:ext cx="1153687" cy="71298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71423" y="2007394"/>
            <a:ext cx="2622187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Escena 4 — Consulta (1:05–1:30)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8871423" y="2244328"/>
            <a:ext cx="2622187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Consulta en lenguaje natural: créditos, seguros, fondo de empleados. El agente valida al instante y explica alternativas si no aplica.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2911078"/>
            <a:ext cx="1153687" cy="71298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8086" y="3726359"/>
            <a:ext cx="2622088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Escena 5 — Simulación (1:30–1:55)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698086" y="3963293"/>
            <a:ext cx="2622088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Simulador de crédito con sliders de monto y plazo; cuota estimada en tiempo real. Sin compromiso hasta confirmación.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2465" y="2911078"/>
            <a:ext cx="1153687" cy="71298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22465" y="3726359"/>
            <a:ext cx="2622187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Escena 6 — Validación y escalamiento (1:55–2:20)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3422465" y="4151114"/>
            <a:ext cx="2622187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Validación normativa automática. La mayoría de casos se resuelven de forma inmediata; si requiere revisión especial, se deriva a analista humano.</a:t>
            </a:r>
            <a:endParaRPr lang="en-US" sz="10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6944" y="2911078"/>
            <a:ext cx="1153687" cy="71298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146944" y="3726359"/>
            <a:ext cx="2622187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Escena 7 — Ejecución (2:20–2:45)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6146944" y="3963293"/>
            <a:ext cx="2622187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agente actualiza datos, genera documentos y confirma por correo o app con detalle completo y cronograma.</a:t>
            </a:r>
            <a:endParaRPr lang="en-US" sz="10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1423" y="2911078"/>
            <a:ext cx="1153687" cy="71298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871423" y="3726359"/>
            <a:ext cx="2622187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Escena 8 — Transparencia (2:45–3:15)</a:t>
            </a:r>
            <a:endParaRPr lang="en-US" sz="1150" dirty="0"/>
          </a:p>
        </p:txBody>
      </p:sp>
      <p:sp>
        <p:nvSpPr>
          <p:cNvPr id="26" name="Text 16"/>
          <p:cNvSpPr/>
          <p:nvPr/>
        </p:nvSpPr>
        <p:spPr>
          <a:xfrm>
            <a:off x="8871423" y="3963293"/>
            <a:ext cx="2622187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Etiqueta visible «Soy un Agente de IA». Botón «Hablar con una persona» siempre disponible. Datos protegidos y trazabilidad.</a:t>
            </a:r>
            <a:endParaRPr lang="en-US" sz="10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086" y="4817864"/>
            <a:ext cx="1153687" cy="71298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98086" y="5633145"/>
            <a:ext cx="2622088" cy="187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spc="-24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Escena 9 — Cierre (3:15–3:45)</a:t>
            </a:r>
            <a:endParaRPr lang="en-US" sz="1150" dirty="0"/>
          </a:p>
        </p:txBody>
      </p:sp>
      <p:sp>
        <p:nvSpPr>
          <p:cNvPr id="29" name="Text 18"/>
          <p:cNvSpPr/>
          <p:nvPr/>
        </p:nvSpPr>
        <p:spPr>
          <a:xfrm>
            <a:off x="698086" y="5870079"/>
            <a:ext cx="2622088" cy="33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1000" spc="-20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«Menos filas, menos esperas, más tiempo para lo que importa.» CTA con acceso desde intranet o app.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9853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spc="-67" kern="0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Notas de Producción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98086" y="1691382"/>
            <a:ext cx="2506699" cy="2182118"/>
          </a:xfrm>
          <a:prstGeom prst="roundRect">
            <a:avLst>
              <a:gd name="adj" fmla="val 347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5208" y="1878509"/>
            <a:ext cx="2132455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🎙</a:t>
            </a:r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Locución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85208" y="2308225"/>
            <a:ext cx="2132455" cy="1378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Voz neutra y cálida, ritmo pausado (máx. 150 palabras/minuto) para facilitar comprensión en tema técnico.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68591" y="1691382"/>
            <a:ext cx="2506798" cy="2182118"/>
          </a:xfrm>
          <a:prstGeom prst="roundRect">
            <a:avLst>
              <a:gd name="adj" fmla="val 3479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5713" y="1878509"/>
            <a:ext cx="2132554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🎨</a:t>
            </a:r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Identidad visual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3555713" y="2308225"/>
            <a:ext cx="2132554" cy="1378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Paleta corporativa de la entidad. Avatar simple, no antropomorfizado en exceso: es una herramienta, no un reemplazo humano.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8086" y="4037310"/>
            <a:ext cx="2506699" cy="1906488"/>
          </a:xfrm>
          <a:prstGeom prst="roundRect">
            <a:avLst>
              <a:gd name="adj" fmla="val 3983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5208" y="4224437"/>
            <a:ext cx="2132455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Subtítulos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85208" y="4654153"/>
            <a:ext cx="2132455" cy="1102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Obligatorios en todas las versiones por accesibilidad y reproducción sin audio en pantallas de oficina.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68591" y="4037310"/>
            <a:ext cx="2506798" cy="1906488"/>
          </a:xfrm>
          <a:prstGeom prst="roundRect">
            <a:avLst>
              <a:gd name="adj" fmla="val 3983"/>
            </a:avLst>
          </a:prstGeom>
          <a:solidFill>
            <a:srgbClr val="F0D4F7"/>
          </a:solidFill>
          <a:ln w="6350">
            <a:solidFill>
              <a:srgbClr val="D6B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5713" y="4224437"/>
            <a:ext cx="2132554" cy="531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✂</a:t>
            </a:r>
            <a:pPr algn="l" indent="0" marL="0">
              <a:lnSpc>
                <a:spcPct val="10400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Versión corta (60 seg)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555713" y="4920059"/>
            <a:ext cx="2132554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 redes internas / historias de app: usar solo Escenas 1, 2, 6 (resumida) y 9.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22656" y="1691382"/>
            <a:ext cx="5177303" cy="1763316"/>
          </a:xfrm>
          <a:prstGeom prst="roundRect">
            <a:avLst>
              <a:gd name="adj" fmla="val 4306"/>
            </a:avLst>
          </a:prstGeom>
          <a:solidFill>
            <a:srgbClr val="FCF2B5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428" y="1932583"/>
            <a:ext cx="225915" cy="18077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10115" y="1883966"/>
            <a:ext cx="4409072" cy="1378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b="1" spc="-28" kern="0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Descargo de responsabilidad final</a:t>
            </a:r>
            <a:pPr algn="l" indent="0" marL="0">
              <a:lnSpc>
                <a:spcPct val="127000"/>
              </a:lnSpc>
              <a:buNone/>
            </a:pPr>
            <a:r>
              <a:rPr lang="en-US" sz="1400" spc="-28" kern="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(pantalla estática, 3 seg): «El agente de IA no reemplaza la asesoría humana en casos disciplinarios, reclamaciones legales o negociaciones salariales. Para estos casos, contacta directamente a Recursos Humanos.»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2026-08-19T23:17:33Z</dcterms:created>
  <dcterms:modified xsi:type="dcterms:W3CDTF">2026-08-19T23:17:33Z</dcterms:modified>
</cp:coreProperties>
</file>