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unnel Display"/>
      <p:regular r:id="rId201314"/>
    </p:embeddedFont>
    <p:embeddedFont>
      <p:font typeface="Funnel Display Bold"/>
      <p:regular r:id="rId201315"/>
    </p:embeddedFont>
    <p:embeddedFont>
      <p:font typeface="Funnel Sans Bold"/>
      <p:regular r:id="rId201316"/>
    </p:embeddedFont>
    <p:embeddedFont>
      <p:font typeface="Funnel Sans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978720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Conoce a tu nuevo aliado en beneficios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3451225"/>
            <a:ext cx="6223638" cy="809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El Agente de IA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98086" y="4559995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Campaña de lanzamiento · Video corporativo · 3:00–3:30 min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879376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¿Alguna vez te has preguntado…?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98086" y="2351881"/>
            <a:ext cx="3012107" cy="1756172"/>
          </a:xfrm>
          <a:prstGeom prst="roundRect">
            <a:avLst>
              <a:gd name="adj" fmla="val 47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03860" y="2557661"/>
            <a:ext cx="260055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¿Tengo derecho a este beneficio?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03860" y="3263900"/>
            <a:ext cx="26005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Crédito preferencial, seguros, fondo de empleados…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3909617" y="2351881"/>
            <a:ext cx="3012107" cy="1756172"/>
          </a:xfrm>
          <a:prstGeom prst="roundRect">
            <a:avLst>
              <a:gd name="adj" fmla="val 477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5392" y="2557661"/>
            <a:ext cx="260055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¿Cuánto tarda el trámite?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15392" y="3263900"/>
            <a:ext cx="260055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¿A quién le pregunto?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98086" y="4307483"/>
            <a:ext cx="6223638" cy="1143695"/>
          </a:xfrm>
          <a:prstGeom prst="roundRect">
            <a:avLst>
              <a:gd name="adj" fmla="val 7325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3860" y="4513263"/>
            <a:ext cx="58120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La respuesta está a un mensaje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03860" y="4926211"/>
            <a:ext cx="581208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Rápida, segura y sin filas.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98086" y="5675511"/>
            <a:ext cx="1805736" cy="303113"/>
          </a:xfrm>
          <a:prstGeom prst="roundRect">
            <a:avLst>
              <a:gd name="adj" fmla="val 22112"/>
            </a:avLst>
          </a:prstGeom>
          <a:solidFill>
            <a:srgbClr val="D8E7F3"/>
          </a:solidFill>
          <a:ln/>
        </p:spPr>
      </p:sp>
      <p:sp>
        <p:nvSpPr>
          <p:cNvPr id="14" name="Text 11"/>
          <p:cNvSpPr/>
          <p:nvPr/>
        </p:nvSpPr>
        <p:spPr>
          <a:xfrm>
            <a:off x="817740" y="5735340"/>
            <a:ext cx="2176011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ESCENA 1 · APERTURA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8842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spc="-2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 presentamos al Agente de IA de Beneficios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635720"/>
            <a:ext cx="6868048" cy="38919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8319" y="1458516"/>
            <a:ext cx="3501640" cy="78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 asistente virtual disponible 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spc="-27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24/7</a:t>
            </a:r>
            <a:pPr algn="l" indent="0" marL="0">
              <a:lnSpc>
                <a:spcPct val="125000"/>
              </a:lnSpc>
              <a:buNone/>
            </a:pPr>
            <a:r>
              <a:rPr lang="en-US" sz="135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que te ayuda a consultar, simular y solicitar tus beneficios: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3802" y="2420938"/>
            <a:ext cx="261733" cy="2617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65539" y="2415480"/>
            <a:ext cx="293442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Créditos preferenciales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3802" y="3255367"/>
            <a:ext cx="261733" cy="2617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65539" y="3249910"/>
            <a:ext cx="293442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Seguros y fondo de empleados</a:t>
            </a:r>
            <a:endParaRPr lang="en-US" sz="16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63802" y="4089797"/>
            <a:ext cx="261733" cy="26173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565539" y="4084340"/>
            <a:ext cx="293442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Capacitación y licencias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7998319" y="4785122"/>
            <a:ext cx="3501640" cy="885428"/>
          </a:xfrm>
          <a:prstGeom prst="roundRect">
            <a:avLst>
              <a:gd name="adj" fmla="val 8279"/>
            </a:avLst>
          </a:prstGeom>
          <a:solidFill>
            <a:srgbClr val="D8E7F3"/>
          </a:solidFill>
          <a:ln/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2841" y="5019080"/>
            <a:ext cx="218177" cy="17452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565539" y="4966097"/>
            <a:ext cx="2759899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spc="-27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Disponible 24/7 · Seguro · Con respaldo humano</a:t>
            </a:r>
            <a:endParaRPr lang="en-US" sz="1350" dirty="0"/>
          </a:p>
        </p:txBody>
      </p:sp>
      <p:sp>
        <p:nvSpPr>
          <p:cNvPr id="14" name="Shape 7"/>
          <p:cNvSpPr/>
          <p:nvPr/>
        </p:nvSpPr>
        <p:spPr>
          <a:xfrm>
            <a:off x="698086" y="6014045"/>
            <a:ext cx="1876874" cy="265113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3371A5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802759" y="6066334"/>
            <a:ext cx="2277113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7" kern="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ESCENA 2 · PRESENTACIÓN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7652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El flujo completo en 5 pasos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062163"/>
            <a:ext cx="10795524" cy="28566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0857" y="3028037"/>
            <a:ext cx="1631831" cy="274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spc="-5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Ingreso SSO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530857" y="3385968"/>
            <a:ext cx="1631831" cy="467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spc="-5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Accede con usuario corporativo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400816" y="2852400"/>
            <a:ext cx="1631831" cy="549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spc="-5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Escribe tu solicitud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400816" y="3485150"/>
            <a:ext cx="1631831" cy="467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spc="-5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Describe tu petición en lenguaje natural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70775" y="3028037"/>
            <a:ext cx="1631831" cy="274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spc="-5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Verificación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270775" y="3385968"/>
            <a:ext cx="1631831" cy="701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spc="-5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Comprobación automática de elegibilidad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140734" y="3127219"/>
            <a:ext cx="1631831" cy="274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spc="-5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Simula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140734" y="3485150"/>
            <a:ext cx="1631831" cy="467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spc="-5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Prueba opciones sin compromiso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021082" y="3028037"/>
            <a:ext cx="1631831" cy="274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700" spc="-5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Confirmación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021082" y="3385968"/>
            <a:ext cx="1631831" cy="467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spc="-5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Confirmación final y seguimiento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98086" y="5143103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Desde el inicio de sesión hasta la confirmación de tu trámite, el Agente de IA te acompaña en cada etapa de forma segura y sin formularios repetidos.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668734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Pasos 1 y 2: Ingreso y solicitud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141240"/>
            <a:ext cx="6223638" cy="18201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4507" y="2366070"/>
            <a:ext cx="567239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Paso 1 — El agente ya te conoce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024507" y="2779018"/>
            <a:ext cx="567239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Inicias sesión con tu usuario corporativo (SSO). El agente reconoce automáticamente tu cargo, antigüedad y tipo de contrato.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Sin formularios repetidos.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4160838"/>
            <a:ext cx="6223638" cy="150098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4507" y="4385667"/>
            <a:ext cx="567239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Paso 2 — Escríbele como a un compañero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024507" y="4798616"/>
            <a:ext cx="5672392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Usa lenguaje natural: </a:t>
            </a:r>
            <a:pPr algn="l" indent="0" marL="0">
              <a:lnSpc>
                <a:spcPct val="133000"/>
              </a:lnSpc>
              <a:buNone/>
            </a:pPr>
            <a:r>
              <a:rPr lang="en-US" sz="1550" i="1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"Quiero saber si tengo derecho al crédito preferencial de vivienda."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El agente entiende tu intención y te guía.</a:t>
            </a:r>
            <a:endParaRPr lang="en-US" sz="1550" dirty="0"/>
          </a:p>
        </p:txBody>
      </p:sp>
      <p:sp>
        <p:nvSpPr>
          <p:cNvPr id="10" name="Shape 5"/>
          <p:cNvSpPr/>
          <p:nvPr/>
        </p:nvSpPr>
        <p:spPr>
          <a:xfrm>
            <a:off x="698086" y="5886152"/>
            <a:ext cx="1271060" cy="303113"/>
          </a:xfrm>
          <a:prstGeom prst="roundRect">
            <a:avLst>
              <a:gd name="adj" fmla="val 22112"/>
            </a:avLst>
          </a:prstGeom>
          <a:solidFill>
            <a:srgbClr val="D8E7F3"/>
          </a:solidFill>
          <a:ln/>
        </p:spPr>
      </p:sp>
      <p:sp>
        <p:nvSpPr>
          <p:cNvPr id="11" name="Text 6"/>
          <p:cNvSpPr/>
          <p:nvPr/>
        </p:nvSpPr>
        <p:spPr>
          <a:xfrm>
            <a:off x="817740" y="5945981"/>
            <a:ext cx="164133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ESCENAS 3 Y 4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86395"/>
            <a:ext cx="10795524" cy="504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spc="-2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Pasos 3 y 4: Elegibilidad y simulación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631652"/>
            <a:ext cx="6870727" cy="389344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3259" y="1577181"/>
            <a:ext cx="3506601" cy="1800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3441" y="2316559"/>
            <a:ext cx="257069" cy="321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8845229" y="1767582"/>
            <a:ext cx="2464234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Verificación automática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8845229" y="2166938"/>
            <a:ext cx="2464234" cy="101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El agente revisa si cumples las condiciones del beneficio. Si no aplica, te explica por qué y muestra alternativas disponibles.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3259" y="3524548"/>
            <a:ext cx="3506601" cy="205511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3441" y="4391422"/>
            <a:ext cx="257069" cy="3213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8845229" y="3714948"/>
            <a:ext cx="2464234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Simula sin compromiso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8845229" y="4114304"/>
            <a:ext cx="2464234" cy="127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Para beneficios financieros, simula montos, plazos y cuotas cuantas veces quieras. </a:t>
            </a:r>
            <a:pPr algn="l" indent="0" marL="0">
              <a:lnSpc>
                <a:spcPct val="124000"/>
              </a:lnSpc>
              <a:buNone/>
            </a:pPr>
            <a:r>
              <a:rPr lang="en-US" sz="1300" b="1" spc="-27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Nada se ejecuta hasta que tú lo confirmes.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98086" y="5911056"/>
            <a:ext cx="1091677" cy="260449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3371A5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00874" y="5962452"/>
            <a:ext cx="1495685" cy="15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7" kern="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ESCENAS 5 Y 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599480"/>
            <a:ext cx="6223638" cy="990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spc="-2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Seguridad, cumplimiento y respaldo humano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5269971" y="1802705"/>
            <a:ext cx="3040780" cy="2073275"/>
          </a:xfrm>
          <a:prstGeom prst="roundRect">
            <a:avLst>
              <a:gd name="adj" fmla="val 341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44592" y="1977330"/>
            <a:ext cx="504912" cy="504924"/>
          </a:xfrm>
          <a:prstGeom prst="ellipse">
            <a:avLst/>
          </a:prstGeom>
          <a:solidFill>
            <a:srgbClr val="3371A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3395" y="2116138"/>
            <a:ext cx="227205" cy="2272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44592" y="2624237"/>
            <a:ext cx="2691539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Tus datos están protegidos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444592" y="2956917"/>
            <a:ext cx="2691539" cy="74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Cada interacción valida automáticamente políticas internas y normativa vigente.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8452730" y="1802705"/>
            <a:ext cx="3040879" cy="2073275"/>
          </a:xfrm>
          <a:prstGeom prst="roundRect">
            <a:avLst>
              <a:gd name="adj" fmla="val 341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27351" y="1977330"/>
            <a:ext cx="504912" cy="504924"/>
          </a:xfrm>
          <a:prstGeom prst="ellipse">
            <a:avLst/>
          </a:prstGeom>
          <a:solidFill>
            <a:srgbClr val="3371A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6154" y="2116138"/>
            <a:ext cx="227205" cy="2272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27351" y="2624237"/>
            <a:ext cx="2691638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Siempre hay una persona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8627351" y="2956917"/>
            <a:ext cx="2691638" cy="74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Cuando un caso lo requiere —por monto, excepción o preferencia— se deriva a un analista humano.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269971" y="4017962"/>
            <a:ext cx="6223638" cy="1825129"/>
          </a:xfrm>
          <a:prstGeom prst="roundRect">
            <a:avLst>
              <a:gd name="adj" fmla="val 3873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444592" y="4192588"/>
            <a:ext cx="504912" cy="504924"/>
          </a:xfrm>
          <a:prstGeom prst="ellipse">
            <a:avLst/>
          </a:prstGeom>
          <a:solidFill>
            <a:srgbClr val="3371A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3395" y="4331395"/>
            <a:ext cx="227205" cy="22721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4592" y="4839494"/>
            <a:ext cx="5874397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Transparencia garantizada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5444592" y="5172174"/>
            <a:ext cx="5874397" cy="49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El colaborador siempre sabe que interactúa con un agente de IA, conforme a las políticas de transparencia.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269971" y="6002834"/>
            <a:ext cx="1847804" cy="255587"/>
          </a:xfrm>
          <a:prstGeom prst="roundRect">
            <a:avLst>
              <a:gd name="adj" fmla="val 22126"/>
            </a:avLst>
          </a:prstGeom>
          <a:solidFill>
            <a:srgbClr val="D8E7F3"/>
          </a:solidFill>
          <a:ln/>
        </p:spPr>
      </p:sp>
      <p:sp>
        <p:nvSpPr>
          <p:cNvPr id="20" name="Text 14"/>
          <p:cNvSpPr/>
          <p:nvPr/>
        </p:nvSpPr>
        <p:spPr>
          <a:xfrm>
            <a:off x="5370874" y="6053237"/>
            <a:ext cx="2255583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ESCENA 7 · MENSAJE CLAVE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810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Paso 5: Confirmación y seguimiento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668264"/>
            <a:ext cx="6846716" cy="3879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7708" y="1727994"/>
            <a:ext cx="346215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Todo gestionado por ti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037708" y="2220714"/>
            <a:ext cx="3462152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Una vez confirmas, el agente gestiona todo el trámite y te notifica por tus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canales oficiales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—correo corporativo y app— con el detalle de tu beneficio y los datos de contacto si necesitas ayuda.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037708" y="4040981"/>
            <a:ext cx="3462152" cy="1422499"/>
          </a:xfrm>
          <a:prstGeom prst="roundRect">
            <a:avLst>
              <a:gd name="adj" fmla="val 5890"/>
            </a:avLst>
          </a:prstGeom>
          <a:solidFill>
            <a:srgbClr val="B6FCB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133" y="4344293"/>
            <a:ext cx="249330" cy="1994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5888" y="4270276"/>
            <a:ext cx="2614547" cy="963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✅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Tu solicitud fue generada. Haz seguimiento en cualquier momento.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698086" y="5996781"/>
            <a:ext cx="936502" cy="303113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3371A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7740" y="6056610"/>
            <a:ext cx="1306777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ESCENA 8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994073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Tu tiempo vale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1879898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Deja que el Agente de IA se encargue de lo operativo, para que tú te enfoques en lo que más importa.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8086" y="2742605"/>
            <a:ext cx="6223638" cy="2593876"/>
          </a:xfrm>
          <a:prstGeom prst="roundRect">
            <a:avLst>
              <a:gd name="adj" fmla="val 323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04436" y="2748955"/>
            <a:ext cx="3105469" cy="1450181"/>
          </a:xfrm>
          <a:custGeom>
            <a:avLst/>
            <a:gdLst/>
            <a:ahLst/>
            <a:cxnLst/>
            <a:rect l="l" t="t" r="r" b="b"/>
            <a:pathLst>
              <a:path w="3105469" h="1450181">
                <a:moveTo>
                  <a:pt x="69818" y="0"/>
                </a:moveTo>
                <a:lnTo>
                  <a:pt x="3105469" y="0"/>
                </a:lnTo>
                <a:lnTo>
                  <a:pt x="3105469" y="1450181"/>
                </a:lnTo>
                <a:lnTo>
                  <a:pt x="0" y="1450181"/>
                </a:lnTo>
                <a:lnTo>
                  <a:pt x="0" y="69820"/>
                </a:lnTo>
                <a:arcTo hR="69820" wR="69818" stAng="10800000" swAng="5400000"/>
                <a:close/>
              </a:path>
            </a:pathLst>
          </a:custGeom>
          <a:solidFill>
            <a:srgbClr val="FAF5EB"/>
          </a:solidFill>
          <a:ln/>
        </p:spPr>
      </p:sp>
      <p:sp>
        <p:nvSpPr>
          <p:cNvPr id="7" name="Text 4"/>
          <p:cNvSpPr/>
          <p:nvPr/>
        </p:nvSpPr>
        <p:spPr>
          <a:xfrm>
            <a:off x="903860" y="2948384"/>
            <a:ext cx="270662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Accede ya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03860" y="3361333"/>
            <a:ext cx="270662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Desde [nombre del canal/app]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3809905" y="2748955"/>
            <a:ext cx="3105469" cy="1450181"/>
          </a:xfrm>
          <a:custGeom>
            <a:avLst/>
            <a:gdLst/>
            <a:ahLst/>
            <a:cxnLst/>
            <a:rect l="l" t="t" r="r" b="b"/>
            <a:pathLst>
              <a:path w="3105469" h="1450181">
                <a:moveTo>
                  <a:pt x="0" y="0"/>
                </a:moveTo>
                <a:lnTo>
                  <a:pt x="3035651" y="0"/>
                </a:lnTo>
                <a:arcTo hR="69820" wR="69818" stAng="16200000" swAng="5400000"/>
                <a:lnTo>
                  <a:pt x="3105469" y="1450181"/>
                </a:lnTo>
                <a:lnTo>
                  <a:pt x="0" y="1450181"/>
                </a:lnTo>
                <a:lnTo>
                  <a:pt x="0" y="0"/>
                </a:lnTo>
                <a:close/>
              </a:path>
            </a:pathLst>
          </a:custGeom>
          <a:solidFill>
            <a:srgbClr val="FAF5EB"/>
          </a:solidFill>
          <a:ln/>
        </p:spPr>
      </p:sp>
      <p:sp>
        <p:nvSpPr>
          <p:cNvPr id="10" name="Shape 7"/>
          <p:cNvSpPr/>
          <p:nvPr/>
        </p:nvSpPr>
        <p:spPr>
          <a:xfrm>
            <a:off x="3809905" y="2748955"/>
            <a:ext cx="25399" cy="1450181"/>
          </a:xfrm>
          <a:prstGeom prst="roundRect">
            <a:avLst>
              <a:gd name="adj" fmla="val 50001"/>
            </a:avLst>
          </a:prstGeom>
          <a:solidFill>
            <a:srgbClr val="D5CDBE"/>
          </a:solidFill>
          <a:ln/>
        </p:spPr>
      </p:sp>
      <p:sp>
        <p:nvSpPr>
          <p:cNvPr id="11" name="Text 8"/>
          <p:cNvSpPr/>
          <p:nvPr/>
        </p:nvSpPr>
        <p:spPr>
          <a:xfrm>
            <a:off x="4009329" y="2948384"/>
            <a:ext cx="270662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Descubre tus beneficios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009329" y="3361333"/>
            <a:ext cx="270662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Todos disponibles, a un mensaje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04436" y="4199136"/>
            <a:ext cx="6210938" cy="1130995"/>
          </a:xfrm>
          <a:custGeom>
            <a:avLst/>
            <a:gdLst/>
            <a:ahLst/>
            <a:cxnLst/>
            <a:rect l="l" t="t" r="r" b="b"/>
            <a:pathLst>
              <a:path w="6210938" h="1130995">
                <a:moveTo>
                  <a:pt x="0" y="0"/>
                </a:moveTo>
                <a:lnTo>
                  <a:pt x="6210938" y="0"/>
                </a:lnTo>
                <a:lnTo>
                  <a:pt x="6210938" y="1061175"/>
                </a:lnTo>
                <a:arcTo hR="69820" wR="69818" stAng="0" swAng="5400000"/>
                <a:lnTo>
                  <a:pt x="69818" y="1130995"/>
                </a:lnTo>
                <a:arcTo hR="69820" wR="69818" stAng="5400000" swAng="5400000"/>
                <a:lnTo>
                  <a:pt x="0" y="0"/>
                </a:lnTo>
                <a:close/>
              </a:path>
            </a:pathLst>
          </a:custGeom>
          <a:solidFill>
            <a:srgbClr val="FAF5EB"/>
          </a:solidFill>
          <a:ln/>
        </p:spPr>
      </p:sp>
      <p:sp>
        <p:nvSpPr>
          <p:cNvPr id="14" name="Shape 11"/>
          <p:cNvSpPr/>
          <p:nvPr/>
        </p:nvSpPr>
        <p:spPr>
          <a:xfrm>
            <a:off x="704436" y="4199136"/>
            <a:ext cx="6210938" cy="2540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15" name="Text 12"/>
          <p:cNvSpPr/>
          <p:nvPr/>
        </p:nvSpPr>
        <p:spPr>
          <a:xfrm>
            <a:off x="903860" y="4398566"/>
            <a:ext cx="58120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¿Dudas?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03860" y="4811514"/>
            <a:ext cx="581208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Contacta a RRHH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98086" y="5560814"/>
            <a:ext cx="1557695" cy="303113"/>
          </a:xfrm>
          <a:prstGeom prst="roundRect">
            <a:avLst>
              <a:gd name="adj" fmla="val 22112"/>
            </a:avLst>
          </a:prstGeom>
          <a:solidFill>
            <a:srgbClr val="D8E7F3"/>
          </a:solidFill>
          <a:ln/>
        </p:spPr>
      </p:sp>
      <p:sp>
        <p:nvSpPr>
          <p:cNvPr id="18" name="Text 15"/>
          <p:cNvSpPr/>
          <p:nvPr/>
        </p:nvSpPr>
        <p:spPr>
          <a:xfrm>
            <a:off x="817740" y="5620643"/>
            <a:ext cx="1927971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ESCENA 9 · CIERRE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61677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Notas de producción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602409"/>
            <a:ext cx="398949" cy="3989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6365" y="2670969"/>
            <a:ext cx="462476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Capturas reales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346365" y="3083917"/>
            <a:ext cx="462476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Grabar el flujo real del agente (o prototipo funcional) en escenas 3–8, no mockups genéricos.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0463" y="2602409"/>
            <a:ext cx="398949" cy="3989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68742" y="2670969"/>
            <a:ext cx="462486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Subtítulos obligatorios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868742" y="3083917"/>
            <a:ext cx="462486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Incluir subtítulos en español por accesibilidad y reproducción sin audio en intranet.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4121249"/>
            <a:ext cx="398949" cy="3989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46365" y="4189809"/>
            <a:ext cx="462476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Versión corta (60 seg)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346365" y="4602758"/>
            <a:ext cx="462476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Para redes internas: escenas 1, 2, 4 y 9 únicamente.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0463" y="4121249"/>
            <a:ext cx="398949" cy="3989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68742" y="4189809"/>
            <a:ext cx="462486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Piezas complementarias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868742" y="4602758"/>
            <a:ext cx="462486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Infografía de flujo (escenas 3–8) y cápsulas de 15 seg por beneficio específico.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2026-08-19T23:17:36Z</dcterms:created>
  <dcterms:modified xsi:type="dcterms:W3CDTF">2026-08-19T23:17:36Z</dcterms:modified>
</cp:coreProperties>
</file>